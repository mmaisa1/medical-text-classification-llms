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690"/>
  </p:normalViewPr>
  <p:slideViewPr>
    <p:cSldViewPr snapToGrid="0">
      <p:cViewPr varScale="1">
        <p:scale>
          <a:sx n="119" d="100"/>
          <a:sy n="119" d="100"/>
        </p:scale>
        <p:origin x="4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DBC9-1590-B3EA-1C66-655AD031E8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527F20-9077-0B38-3AD7-3DD6D9EB6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5EA5D-7CED-DC0F-957A-5E94E3DAFAA1}"/>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EADC6B86-24A2-3F12-127E-5143A0A134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833CB-9F1D-5687-2DC5-B857FA7EB861}"/>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28795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5B7DA-0431-E9FA-0067-DD6CB28208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92A93E-67FA-7864-7DC3-03826DB578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39E4-8730-997D-EE72-5E2EF16FA7F4}"/>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12FE5547-9F12-A429-C497-6F0967B18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0DE32-F8B0-30E9-F8FD-70B8E69B606D}"/>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367012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DB18-C1BA-1E96-2783-F0DC5A66D0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14F70F-E39B-4431-92F7-D5482D7F54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465FB9-F170-5420-F3E4-40FDBBAC1C9F}"/>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AC6D4B34-3F9E-27AB-537B-06DAE4A62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5455C-C5AB-5508-C972-F90D92B556F8}"/>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952014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63211-53B8-6016-88F2-25F7706AC0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49AEE5-1F06-CC1E-B170-F334CE5FC3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697EB3-F7EC-3BF9-98AC-209CC2A269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67294F-9117-ABB5-4C04-B3549AFFBBD3}"/>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6" name="Footer Placeholder 5">
            <a:extLst>
              <a:ext uri="{FF2B5EF4-FFF2-40B4-BE49-F238E27FC236}">
                <a16:creationId xmlns:a16="http://schemas.microsoft.com/office/drawing/2014/main" id="{5BCFEC49-B669-814A-531C-5E444A9ECB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5D2E84-7B80-1495-5036-23F4EE11308F}"/>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191373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23FAA-F67B-C4FD-ACB2-6874AF9971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907074-E8C2-7C0E-2E05-F16544E4B3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8E3FD9-2713-A5DE-EE93-FD090EF4D9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8930B8-2CFA-E5AE-132B-83C7F59232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41E1FB-65A1-3753-1823-AD6FE3295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F85E10-5D4E-2DB3-D047-23BE690615CF}"/>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8" name="Footer Placeholder 7">
            <a:extLst>
              <a:ext uri="{FF2B5EF4-FFF2-40B4-BE49-F238E27FC236}">
                <a16:creationId xmlns:a16="http://schemas.microsoft.com/office/drawing/2014/main" id="{FE5E95BE-E47F-CF8A-98F2-7F1E7893A4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3C7EF4-50DC-6C9E-CD4E-FDC42E7AE4F2}"/>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29867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F04D-3604-43DE-B16C-CF51346E90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15609F-94DB-6FD1-B717-31C81F2C7C0B}"/>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4" name="Footer Placeholder 3">
            <a:extLst>
              <a:ext uri="{FF2B5EF4-FFF2-40B4-BE49-F238E27FC236}">
                <a16:creationId xmlns:a16="http://schemas.microsoft.com/office/drawing/2014/main" id="{9FDC6B2C-66C0-E592-5C85-F3978E2274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B10942-3DBF-7D1A-5C3A-2763F527BB06}"/>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602866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5CDCFA-93C9-512E-F88F-7EFA7260E6D0}"/>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3" name="Footer Placeholder 2">
            <a:extLst>
              <a:ext uri="{FF2B5EF4-FFF2-40B4-BE49-F238E27FC236}">
                <a16:creationId xmlns:a16="http://schemas.microsoft.com/office/drawing/2014/main" id="{4C54C5A9-85E8-1267-4356-954A4B07C7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5C12B2-BEAE-BB0A-B7B6-318A3945B112}"/>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3712395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3E8F-D9D0-A718-8DC9-4CF5657D37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94A649-166A-C9E1-086F-56C08307B7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2A7C11-2CDC-A9F2-CE4C-34348CC567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18AC8F-D39D-044E-63AB-46D46068C23E}"/>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6" name="Footer Placeholder 5">
            <a:extLst>
              <a:ext uri="{FF2B5EF4-FFF2-40B4-BE49-F238E27FC236}">
                <a16:creationId xmlns:a16="http://schemas.microsoft.com/office/drawing/2014/main" id="{65B71169-FCE4-3E1F-B018-F98BF930F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D7DB3-1D02-D605-064B-FDD029E8EEAD}"/>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861266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21A43-1E61-9217-027A-86F1DA7DF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F4F36F-A28C-2D6E-EFF3-3C7C90E9F7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32E4D3-1D85-025B-C09E-650B4E8F8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9A31F-E3C4-052E-89EA-D73163BA0487}"/>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6" name="Footer Placeholder 5">
            <a:extLst>
              <a:ext uri="{FF2B5EF4-FFF2-40B4-BE49-F238E27FC236}">
                <a16:creationId xmlns:a16="http://schemas.microsoft.com/office/drawing/2014/main" id="{8D216554-44DF-69C0-0009-9CD266B28A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C2F8C4-0E4F-7DCC-1B87-338AC993DC62}"/>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122825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94D9F-5DD5-A3F4-4CD0-2CB3A824E8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3536C8-FF61-99EE-CAF5-04EA13E7A3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83F94-A622-E3DA-14E9-BE0196232F7C}"/>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F8543CE2-D567-8EB6-5E85-EAC1A2F4F4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9D848-1979-C542-9E21-46EC43FE28A4}"/>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3034093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18B2A0-8699-95B7-9A78-62349D8D6A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A9C1B4-93E1-316F-6EE1-9CF1EF2279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FB9823-5043-0497-FAF9-B64B3D168DBD}"/>
              </a:ext>
            </a:extLst>
          </p:cNvPr>
          <p:cNvSpPr>
            <a:spLocks noGrp="1"/>
          </p:cNvSpPr>
          <p:nvPr>
            <p:ph type="dt" sz="half" idx="10"/>
          </p:nvPr>
        </p:nvSpPr>
        <p:spPr/>
        <p:txBody>
          <a:body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F1C26420-1F12-86E2-37BC-1E51E7276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9F515-893B-AEC8-DE4C-18276AFCE018}"/>
              </a:ext>
            </a:extLst>
          </p:cNvPr>
          <p:cNvSpPr>
            <a:spLocks noGrp="1"/>
          </p:cNvSpPr>
          <p:nvPr>
            <p:ph type="sldNum" sz="quarter" idx="12"/>
          </p:nvPr>
        </p:nvSpPr>
        <p:spPr/>
        <p:txBody>
          <a:bodyPr/>
          <a:lstStyle/>
          <a:p>
            <a:fld id="{81950309-1F1F-DE4B-908E-B99403DD9602}" type="slidenum">
              <a:rPr lang="en-US" smtClean="0"/>
              <a:t>‹#›</a:t>
            </a:fld>
            <a:endParaRPr lang="en-US"/>
          </a:p>
        </p:txBody>
      </p:sp>
    </p:spTree>
    <p:extLst>
      <p:ext uri="{BB962C8B-B14F-4D97-AF65-F5344CB8AC3E}">
        <p14:creationId xmlns:p14="http://schemas.microsoft.com/office/powerpoint/2010/main" val="2398291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A9C062-282C-6003-B1C7-C7C451E1B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0A1970-9FCE-B33C-40B8-EEBE844903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F24944-CA2D-D94F-A4B0-83D3AA215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803F01-CC76-BE42-A0C3-E96ADC998D24}" type="datetimeFigureOut">
              <a:rPr lang="en-US" smtClean="0"/>
              <a:t>1/27/25</a:t>
            </a:fld>
            <a:endParaRPr lang="en-US"/>
          </a:p>
        </p:txBody>
      </p:sp>
      <p:sp>
        <p:nvSpPr>
          <p:cNvPr id="5" name="Footer Placeholder 4">
            <a:extLst>
              <a:ext uri="{FF2B5EF4-FFF2-40B4-BE49-F238E27FC236}">
                <a16:creationId xmlns:a16="http://schemas.microsoft.com/office/drawing/2014/main" id="{03E2377D-04FE-92FB-2446-15A209DC5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E1B47E-5D4A-A647-9691-592918DA8C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950309-1F1F-DE4B-908E-B99403DD9602}" type="slidenum">
              <a:rPr lang="en-US" smtClean="0"/>
              <a:t>‹#›</a:t>
            </a:fld>
            <a:endParaRPr lang="en-US"/>
          </a:p>
        </p:txBody>
      </p:sp>
    </p:spTree>
    <p:extLst>
      <p:ext uri="{BB962C8B-B14F-4D97-AF65-F5344CB8AC3E}">
        <p14:creationId xmlns:p14="http://schemas.microsoft.com/office/powerpoint/2010/main" val="167110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prasad22/ca-independent-medical-review?resource=download" TargetMode="External"/><Relationship Id="rId2" Type="http://schemas.openxmlformats.org/officeDocument/2006/relationships/hyperlink" Target="https://github.com/tatonetti-lab/tcga-path-reports/tree/mai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C46E-EC61-EF17-A1F4-656312F6A334}"/>
              </a:ext>
            </a:extLst>
          </p:cNvPr>
          <p:cNvSpPr>
            <a:spLocks noGrp="1"/>
          </p:cNvSpPr>
          <p:nvPr>
            <p:ph type="ctrTitle"/>
          </p:nvPr>
        </p:nvSpPr>
        <p:spPr/>
        <p:txBody>
          <a:bodyPr/>
          <a:lstStyle/>
          <a:p>
            <a:r>
              <a:rPr lang="en-US" dirty="0"/>
              <a:t>CSUDH Capstone Project</a:t>
            </a:r>
          </a:p>
        </p:txBody>
      </p:sp>
      <p:sp>
        <p:nvSpPr>
          <p:cNvPr id="3" name="Subtitle 2">
            <a:extLst>
              <a:ext uri="{FF2B5EF4-FFF2-40B4-BE49-F238E27FC236}">
                <a16:creationId xmlns:a16="http://schemas.microsoft.com/office/drawing/2014/main" id="{56FD67E5-CEAA-E166-AEC2-CAE459909916}"/>
              </a:ext>
            </a:extLst>
          </p:cNvPr>
          <p:cNvSpPr>
            <a:spLocks noGrp="1"/>
          </p:cNvSpPr>
          <p:nvPr>
            <p:ph type="subTitle" idx="1"/>
          </p:nvPr>
        </p:nvSpPr>
        <p:spPr/>
        <p:txBody>
          <a:bodyPr/>
          <a:lstStyle/>
          <a:p>
            <a:r>
              <a:rPr lang="en-US" dirty="0"/>
              <a:t>Medical Text classification using LLMs</a:t>
            </a:r>
          </a:p>
        </p:txBody>
      </p:sp>
    </p:spTree>
    <p:extLst>
      <p:ext uri="{BB962C8B-B14F-4D97-AF65-F5344CB8AC3E}">
        <p14:creationId xmlns:p14="http://schemas.microsoft.com/office/powerpoint/2010/main" val="368251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6A6E8-A3DA-EB8E-2AEB-49821833F59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B0FFAE8-4A0B-EA39-5C9E-FDEF887A4563}"/>
              </a:ext>
            </a:extLst>
          </p:cNvPr>
          <p:cNvSpPr>
            <a:spLocks noGrp="1"/>
          </p:cNvSpPr>
          <p:nvPr>
            <p:ph idx="1"/>
          </p:nvPr>
        </p:nvSpPr>
        <p:spPr/>
        <p:txBody>
          <a:bodyPr>
            <a:normAutofit/>
          </a:bodyPr>
          <a:lstStyle/>
          <a:p>
            <a:pPr marL="0" indent="0">
              <a:buNone/>
            </a:pPr>
            <a:r>
              <a:rPr lang="en-US" dirty="0"/>
              <a:t>In this project, students will work with cancer-related text data or medical review data to perform classification using LLMs. The project will focus on building robust text classification models and exploring the capabilities of LLMs in understanding complex medical texts.</a:t>
            </a:r>
          </a:p>
          <a:p>
            <a:pPr>
              <a:buFont typeface="+mj-lt"/>
              <a:buAutoNum type="arabicPeriod"/>
            </a:pPr>
            <a:endParaRPr lang="en-US" dirty="0"/>
          </a:p>
        </p:txBody>
      </p:sp>
    </p:spTree>
    <p:extLst>
      <p:ext uri="{BB962C8B-B14F-4D97-AF65-F5344CB8AC3E}">
        <p14:creationId xmlns:p14="http://schemas.microsoft.com/office/powerpoint/2010/main" val="288596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154A6-1AB4-848A-D0ED-D5A197549685}"/>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64E58DD3-36B5-440C-D0A6-C108C41A93AF}"/>
              </a:ext>
            </a:extLst>
          </p:cNvPr>
          <p:cNvSpPr>
            <a:spLocks noGrp="1"/>
          </p:cNvSpPr>
          <p:nvPr>
            <p:ph idx="1"/>
          </p:nvPr>
        </p:nvSpPr>
        <p:spPr/>
        <p:txBody>
          <a:bodyPr/>
          <a:lstStyle/>
          <a:p>
            <a:pPr marL="514350" indent="-514350">
              <a:buAutoNum type="arabicPeriod"/>
            </a:pPr>
            <a:r>
              <a:rPr lang="en-US" dirty="0"/>
              <a:t>Understanding traditional NLP classification workflow</a:t>
            </a:r>
          </a:p>
          <a:p>
            <a:pPr marL="514350" indent="-514350">
              <a:buAutoNum type="arabicPeriod"/>
            </a:pPr>
            <a:r>
              <a:rPr lang="en-US" dirty="0"/>
              <a:t>Traditional NLP vs LLMs</a:t>
            </a:r>
          </a:p>
          <a:p>
            <a:pPr marL="514350" indent="-514350">
              <a:buAutoNum type="arabicPeriod"/>
            </a:pPr>
            <a:r>
              <a:rPr lang="en-US" dirty="0"/>
              <a:t>Few-shot learning with LLMs</a:t>
            </a:r>
          </a:p>
        </p:txBody>
      </p:sp>
    </p:spTree>
    <p:extLst>
      <p:ext uri="{BB962C8B-B14F-4D97-AF65-F5344CB8AC3E}">
        <p14:creationId xmlns:p14="http://schemas.microsoft.com/office/powerpoint/2010/main" val="3126966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C85FC-99E3-E103-7DC5-B261A3FC6C1B}"/>
              </a:ext>
            </a:extLst>
          </p:cNvPr>
          <p:cNvSpPr>
            <a:spLocks noGrp="1"/>
          </p:cNvSpPr>
          <p:nvPr>
            <p:ph type="title"/>
          </p:nvPr>
        </p:nvSpPr>
        <p:spPr/>
        <p:txBody>
          <a:bodyPr/>
          <a:lstStyle/>
          <a:p>
            <a:r>
              <a:rPr lang="en-US" dirty="0"/>
              <a:t>Resources (use either 1 of the dataset)</a:t>
            </a:r>
          </a:p>
        </p:txBody>
      </p:sp>
      <p:sp>
        <p:nvSpPr>
          <p:cNvPr id="3" name="Content Placeholder 2">
            <a:extLst>
              <a:ext uri="{FF2B5EF4-FFF2-40B4-BE49-F238E27FC236}">
                <a16:creationId xmlns:a16="http://schemas.microsoft.com/office/drawing/2014/main" id="{BA4F1788-8560-A33B-A565-3ED26086092C}"/>
              </a:ext>
            </a:extLst>
          </p:cNvPr>
          <p:cNvSpPr>
            <a:spLocks noGrp="1"/>
          </p:cNvSpPr>
          <p:nvPr>
            <p:ph idx="1"/>
          </p:nvPr>
        </p:nvSpPr>
        <p:spPr/>
        <p:txBody>
          <a:bodyPr/>
          <a:lstStyle/>
          <a:p>
            <a:pPr marL="0" indent="0">
              <a:buNone/>
            </a:pPr>
            <a:r>
              <a:rPr lang="en-US" dirty="0"/>
              <a:t>Dataset: </a:t>
            </a:r>
            <a:r>
              <a:rPr lang="en-US" dirty="0">
                <a:hlinkClick r:id="rId2"/>
              </a:rPr>
              <a:t>tatonetti-lab/tcga-path-reports: TCGA Pathology Reports in Machine Readable Text (github.com)</a:t>
            </a:r>
            <a:endParaRPr lang="en-US" dirty="0"/>
          </a:p>
          <a:p>
            <a:pPr marL="0" indent="0">
              <a:buNone/>
            </a:pPr>
            <a:r>
              <a:rPr lang="en-US" dirty="0"/>
              <a:t>Reports: </a:t>
            </a:r>
            <a:r>
              <a:rPr lang="en-US" dirty="0" err="1"/>
              <a:t>TCGA_Reports.csv.zip</a:t>
            </a:r>
            <a:endParaRPr lang="en-US" dirty="0"/>
          </a:p>
          <a:p>
            <a:pPr marL="0" indent="0">
              <a:buNone/>
            </a:pPr>
            <a:r>
              <a:rPr lang="en-US" dirty="0"/>
              <a:t>Labels: data/</a:t>
            </a:r>
            <a:r>
              <a:rPr lang="en-US" dirty="0" err="1"/>
              <a:t>tcga_metadata</a:t>
            </a:r>
            <a:r>
              <a:rPr lang="en-US" dirty="0"/>
              <a:t>/</a:t>
            </a:r>
            <a:r>
              <a:rPr lang="en-US" dirty="0" err="1"/>
              <a:t>tcga_patient_to_cancer_type.csv</a:t>
            </a:r>
            <a:endParaRPr lang="en-US" dirty="0"/>
          </a:p>
          <a:p>
            <a:pPr marL="0" indent="0">
              <a:buNone/>
            </a:pPr>
            <a:endParaRPr lang="en-US" dirty="0"/>
          </a:p>
          <a:p>
            <a:pPr marL="0" indent="0">
              <a:buNone/>
            </a:pPr>
            <a:r>
              <a:rPr lang="en-US" dirty="0"/>
              <a:t>Dataset: </a:t>
            </a:r>
            <a:r>
              <a:rPr lang="en-US" dirty="0">
                <a:hlinkClick r:id="rId3"/>
              </a:rPr>
              <a:t>https://www.kaggle.com/datasets/prasad22/ca-independent-medical-review?resource=download</a:t>
            </a:r>
            <a:endParaRPr lang="en-US" dirty="0"/>
          </a:p>
          <a:p>
            <a:pPr marL="0" indent="0">
              <a:buNone/>
            </a:pPr>
            <a:r>
              <a:rPr lang="en-US" dirty="0"/>
              <a:t>Reports: Findings (please remove final results)</a:t>
            </a:r>
          </a:p>
          <a:p>
            <a:pPr marL="0" indent="0">
              <a:buNone/>
            </a:pPr>
            <a:r>
              <a:rPr lang="en-US" dirty="0"/>
              <a:t>Labels: Determination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9477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AE96-EBEC-CD4C-5583-1467A9100CF2}"/>
              </a:ext>
            </a:extLst>
          </p:cNvPr>
          <p:cNvSpPr>
            <a:spLocks noGrp="1"/>
          </p:cNvSpPr>
          <p:nvPr>
            <p:ph type="title"/>
          </p:nvPr>
        </p:nvSpPr>
        <p:spPr/>
        <p:txBody>
          <a:bodyPr/>
          <a:lstStyle/>
          <a:p>
            <a:r>
              <a:rPr lang="en-US" dirty="0"/>
              <a:t>Expected outcome</a:t>
            </a:r>
          </a:p>
        </p:txBody>
      </p:sp>
      <p:sp>
        <p:nvSpPr>
          <p:cNvPr id="3" name="Content Placeholder 2">
            <a:extLst>
              <a:ext uri="{FF2B5EF4-FFF2-40B4-BE49-F238E27FC236}">
                <a16:creationId xmlns:a16="http://schemas.microsoft.com/office/drawing/2014/main" id="{4C685193-8AB3-9341-F742-D9FAAEA0D98D}"/>
              </a:ext>
            </a:extLst>
          </p:cNvPr>
          <p:cNvSpPr>
            <a:spLocks noGrp="1"/>
          </p:cNvSpPr>
          <p:nvPr>
            <p:ph idx="1"/>
          </p:nvPr>
        </p:nvSpPr>
        <p:spPr/>
        <p:txBody>
          <a:bodyPr/>
          <a:lstStyle/>
          <a:p>
            <a:pPr marL="514350" indent="-514350">
              <a:buFont typeface="+mj-lt"/>
              <a:buAutoNum type="arabicPeriod"/>
            </a:pPr>
            <a:r>
              <a:rPr lang="en-US" dirty="0"/>
              <a:t>Generated a baseline model (</a:t>
            </a:r>
            <a:r>
              <a:rPr lang="en-US" dirty="0" err="1"/>
              <a:t>e.g</a:t>
            </a:r>
            <a:r>
              <a:rPr lang="en-US" dirty="0"/>
              <a:t>, TF-IDF -&gt; Machine learning models)</a:t>
            </a:r>
          </a:p>
          <a:p>
            <a:pPr marL="514350" indent="-514350">
              <a:buFont typeface="+mj-lt"/>
              <a:buAutoNum type="arabicPeriod"/>
            </a:pPr>
            <a:r>
              <a:rPr lang="en-US" dirty="0"/>
              <a:t>Generated a LLM based models and compare the results, and we expect the LLM based model performance better than baseline model (e.g., better ACC, F1 score)</a:t>
            </a:r>
          </a:p>
          <a:p>
            <a:pPr marL="514350" indent="-514350">
              <a:buFont typeface="+mj-lt"/>
              <a:buAutoNum type="arabicPeriod"/>
            </a:pPr>
            <a:r>
              <a:rPr lang="en-US" dirty="0"/>
              <a:t>Try few-shot learning techniques using LLMs and compare with the full model.</a:t>
            </a:r>
          </a:p>
          <a:p>
            <a:pPr marL="0" indent="0">
              <a:buNone/>
            </a:pPr>
            <a:endParaRPr lang="en-US" dirty="0"/>
          </a:p>
        </p:txBody>
      </p:sp>
    </p:spTree>
    <p:extLst>
      <p:ext uri="{BB962C8B-B14F-4D97-AF65-F5344CB8AC3E}">
        <p14:creationId xmlns:p14="http://schemas.microsoft.com/office/powerpoint/2010/main" val="159815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215</Words>
  <Application>Microsoft Macintosh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CSUDH Capstone Project</vt:lpstr>
      <vt:lpstr>Introduction</vt:lpstr>
      <vt:lpstr>Objective</vt:lpstr>
      <vt:lpstr>Resources (use either 1 of the dataset)</vt:lpstr>
      <vt:lpstr>Expected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 Yimeng</dc:creator>
  <cp:lastModifiedBy>He, Yimeng</cp:lastModifiedBy>
  <cp:revision>5</cp:revision>
  <dcterms:created xsi:type="dcterms:W3CDTF">2024-09-09T17:40:45Z</dcterms:created>
  <dcterms:modified xsi:type="dcterms:W3CDTF">2025-01-27T08:33:01Z</dcterms:modified>
</cp:coreProperties>
</file>